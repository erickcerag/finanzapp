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Erick Muñoz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 dirty="0"/>
            <a:t>Iván Reveco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Desarrollo técnico – Mejora continua 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n-US" dirty="0"/>
            <a:t>Product Owner - Development Team 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Entrega valor al sistema – Desarrollo técnico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n-US" dirty="0"/>
            <a:t>Scrum Master - Development Team </a:t>
          </a:r>
          <a:endParaRPr lang="es-CL" dirty="0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2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2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2"/>
      <dgm:spPr/>
    </dgm:pt>
    <dgm:pt modelId="{3F97C059-D720-4D48-953F-B84D04D0BF79}" type="pres">
      <dgm:prSet presAssocID="{02A34BC0-F8BA-4A89-87A4-4F20079DFD06}" presName="img" presStyleLbl="fgImgPlac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2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8C1397-1482-4D9F-AC04-E063FF6482B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5F2103AF-9D91-4FF2-8CDB-051A44C19068}">
      <dgm:prSet phldrT="[Texto]" custT="1"/>
      <dgm:spPr/>
      <dgm:t>
        <a:bodyPr/>
        <a:lstStyle/>
        <a:p>
          <a:r>
            <a:rPr lang="es-CL" sz="1800" dirty="0"/>
            <a:t>React (Web) + Expo (Móvil)</a:t>
          </a:r>
        </a:p>
      </dgm:t>
    </dgm:pt>
    <dgm:pt modelId="{46183DD8-3F25-4739-8D13-18742125395F}" type="parTrans" cxnId="{29592279-AF36-4AA5-9ADD-FA927A32670C}">
      <dgm:prSet/>
      <dgm:spPr/>
      <dgm:t>
        <a:bodyPr/>
        <a:lstStyle/>
        <a:p>
          <a:endParaRPr lang="es-CL"/>
        </a:p>
      </dgm:t>
    </dgm:pt>
    <dgm:pt modelId="{ABECBBD9-7928-4BF5-8860-71D67899F8AE}" type="sibTrans" cxnId="{29592279-AF36-4AA5-9ADD-FA927A32670C}">
      <dgm:prSet/>
      <dgm:spPr/>
      <dgm:t>
        <a:bodyPr/>
        <a:lstStyle/>
        <a:p>
          <a:endParaRPr lang="es-CL"/>
        </a:p>
      </dgm:t>
    </dgm:pt>
    <dgm:pt modelId="{0C9C3D3A-0B09-4725-9BC3-1CBFA37D13AD}">
      <dgm:prSet phldrT="[Texto]" custT="1"/>
      <dgm:spPr/>
      <dgm:t>
        <a:bodyPr/>
        <a:lstStyle/>
        <a:p>
          <a:r>
            <a:rPr lang="es-CL" sz="1800" dirty="0"/>
            <a:t>Backend: API.NET 8 (Render)</a:t>
          </a:r>
        </a:p>
      </dgm:t>
    </dgm:pt>
    <dgm:pt modelId="{91ECF953-B60E-450F-BFCE-FACF79C73693}" type="parTrans" cxnId="{DC51DB8A-FD67-40C2-8A3F-550389AE3D25}">
      <dgm:prSet/>
      <dgm:spPr/>
      <dgm:t>
        <a:bodyPr/>
        <a:lstStyle/>
        <a:p>
          <a:endParaRPr lang="es-CL"/>
        </a:p>
      </dgm:t>
    </dgm:pt>
    <dgm:pt modelId="{A2BFADB5-FB60-47D1-9297-B2FF33063293}" type="sibTrans" cxnId="{DC51DB8A-FD67-40C2-8A3F-550389AE3D25}">
      <dgm:prSet/>
      <dgm:spPr/>
      <dgm:t>
        <a:bodyPr/>
        <a:lstStyle/>
        <a:p>
          <a:endParaRPr lang="es-CL"/>
        </a:p>
      </dgm:t>
    </dgm:pt>
    <dgm:pt modelId="{E4568E52-36B6-4A57-A860-74EC76D8A74D}">
      <dgm:prSet phldrT="[Texto]" custT="1"/>
      <dgm:spPr/>
      <dgm:t>
        <a:bodyPr/>
        <a:lstStyle/>
        <a:p>
          <a:r>
            <a:rPr lang="es-CL" sz="1800" dirty="0"/>
            <a:t>BDD : PostgreSQL (</a:t>
          </a:r>
          <a:r>
            <a:rPr lang="es-CL" sz="1800" dirty="0" err="1"/>
            <a:t>Neon</a:t>
          </a:r>
          <a:r>
            <a:rPr lang="es-CL" sz="1800" dirty="0"/>
            <a:t>)</a:t>
          </a:r>
        </a:p>
      </dgm:t>
    </dgm:pt>
    <dgm:pt modelId="{AED54D43-C736-466C-A18B-8598673200D7}" type="parTrans" cxnId="{1F39D766-3E33-412F-8492-B3297BA980D9}">
      <dgm:prSet/>
      <dgm:spPr/>
      <dgm:t>
        <a:bodyPr/>
        <a:lstStyle/>
        <a:p>
          <a:endParaRPr lang="es-CL"/>
        </a:p>
      </dgm:t>
    </dgm:pt>
    <dgm:pt modelId="{6C18F63E-DC7A-4E20-82B3-DFC4D30FF1E3}" type="sibTrans" cxnId="{1F39D766-3E33-412F-8492-B3297BA980D9}">
      <dgm:prSet/>
      <dgm:spPr/>
      <dgm:t>
        <a:bodyPr/>
        <a:lstStyle/>
        <a:p>
          <a:endParaRPr lang="es-CL"/>
        </a:p>
      </dgm:t>
    </dgm:pt>
    <dgm:pt modelId="{A1AA2A17-24C1-4437-AD67-F1265E21C6DA}">
      <dgm:prSet custT="1"/>
      <dgm:spPr/>
      <dgm:t>
        <a:bodyPr/>
        <a:lstStyle/>
        <a:p>
          <a:r>
            <a:rPr lang="es-CL" sz="1800" dirty="0"/>
            <a:t>Local Storage : SQLite Expo</a:t>
          </a:r>
        </a:p>
      </dgm:t>
    </dgm:pt>
    <dgm:pt modelId="{CBDE604E-E80B-44F8-A71D-1AEA8492128A}" type="parTrans" cxnId="{A3F5EDE5-1F6D-4BE5-998C-5ED128614BB8}">
      <dgm:prSet/>
      <dgm:spPr/>
      <dgm:t>
        <a:bodyPr/>
        <a:lstStyle/>
        <a:p>
          <a:endParaRPr lang="es-CL"/>
        </a:p>
      </dgm:t>
    </dgm:pt>
    <dgm:pt modelId="{39B76E97-9394-4000-A210-CE6E77F59569}" type="sibTrans" cxnId="{A3F5EDE5-1F6D-4BE5-998C-5ED128614BB8}">
      <dgm:prSet/>
      <dgm:spPr/>
      <dgm:t>
        <a:bodyPr/>
        <a:lstStyle/>
        <a:p>
          <a:endParaRPr lang="es-CL"/>
        </a:p>
      </dgm:t>
    </dgm:pt>
    <dgm:pt modelId="{83EF6BAB-60B9-4E00-8AE5-9C82C595B391}">
      <dgm:prSet custT="1"/>
      <dgm:spPr/>
      <dgm:t>
        <a:bodyPr/>
        <a:lstStyle/>
        <a:p>
          <a:r>
            <a:rPr lang="es-CL" sz="1800" dirty="0"/>
            <a:t>Sincronización : </a:t>
          </a:r>
          <a:r>
            <a:rPr lang="es-CL" sz="1800" dirty="0" err="1"/>
            <a:t>Pull</a:t>
          </a:r>
          <a:r>
            <a:rPr lang="es-CL" sz="1800" dirty="0"/>
            <a:t>/</a:t>
          </a:r>
          <a:r>
            <a:rPr lang="es-CL" sz="1800" dirty="0" err="1"/>
            <a:t>Push</a:t>
          </a:r>
          <a:r>
            <a:rPr lang="es-CL" sz="1800" dirty="0"/>
            <a:t> local con servidor   </a:t>
          </a:r>
        </a:p>
      </dgm:t>
    </dgm:pt>
    <dgm:pt modelId="{D10A3080-6108-4FD5-8333-7BDF1C73E71E}" type="parTrans" cxnId="{F0AE2C4E-F7C7-45D7-BF8E-08AAF834FA79}">
      <dgm:prSet/>
      <dgm:spPr/>
      <dgm:t>
        <a:bodyPr/>
        <a:lstStyle/>
        <a:p>
          <a:endParaRPr lang="es-CL"/>
        </a:p>
      </dgm:t>
    </dgm:pt>
    <dgm:pt modelId="{F077ECFE-D8BC-45DA-877B-1C2B63FF8917}" type="sibTrans" cxnId="{F0AE2C4E-F7C7-45D7-BF8E-08AAF834FA79}">
      <dgm:prSet/>
      <dgm:spPr/>
      <dgm:t>
        <a:bodyPr/>
        <a:lstStyle/>
        <a:p>
          <a:endParaRPr lang="es-CL"/>
        </a:p>
      </dgm:t>
    </dgm:pt>
    <dgm:pt modelId="{448FA69E-BED7-4118-993E-CE830A7F6ECB}" type="pres">
      <dgm:prSet presAssocID="{E18C1397-1482-4D9F-AC04-E063FF6482B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7894874-4EB4-4527-8879-48D814F4AC10}" type="pres">
      <dgm:prSet presAssocID="{5F2103AF-9D91-4FF2-8CDB-051A44C19068}" presName="root1" presStyleCnt="0"/>
      <dgm:spPr/>
    </dgm:pt>
    <dgm:pt modelId="{D9F46483-6C13-4E71-B5B8-4BF75A89CB7C}" type="pres">
      <dgm:prSet presAssocID="{5F2103AF-9D91-4FF2-8CDB-051A44C19068}" presName="LevelOneTextNode" presStyleLbl="node0" presStyleIdx="0" presStyleCnt="1" custScaleX="343569" custScaleY="317861" custLinFactNeighborX="8332" custLinFactNeighborY="-3953">
        <dgm:presLayoutVars>
          <dgm:chPref val="3"/>
        </dgm:presLayoutVars>
      </dgm:prSet>
      <dgm:spPr/>
    </dgm:pt>
    <dgm:pt modelId="{0C80D68E-B54F-41CC-8557-C01CC6756F70}" type="pres">
      <dgm:prSet presAssocID="{5F2103AF-9D91-4FF2-8CDB-051A44C19068}" presName="level2hierChild" presStyleCnt="0"/>
      <dgm:spPr/>
    </dgm:pt>
    <dgm:pt modelId="{88977B18-1141-410B-B550-8E10D18F3D10}" type="pres">
      <dgm:prSet presAssocID="{91ECF953-B60E-450F-BFCE-FACF79C73693}" presName="conn2-1" presStyleLbl="parChTrans1D2" presStyleIdx="0" presStyleCnt="1"/>
      <dgm:spPr/>
    </dgm:pt>
    <dgm:pt modelId="{C7FFF0E4-25BF-44CD-91FD-69A1039257F6}" type="pres">
      <dgm:prSet presAssocID="{91ECF953-B60E-450F-BFCE-FACF79C73693}" presName="connTx" presStyleLbl="parChTrans1D2" presStyleIdx="0" presStyleCnt="1"/>
      <dgm:spPr/>
    </dgm:pt>
    <dgm:pt modelId="{648C60A8-1058-4C2A-A924-340B85806658}" type="pres">
      <dgm:prSet presAssocID="{0C9C3D3A-0B09-4725-9BC3-1CBFA37D13AD}" presName="root2" presStyleCnt="0"/>
      <dgm:spPr/>
    </dgm:pt>
    <dgm:pt modelId="{FDCF498D-3C4D-453F-A02C-430C255C3461}" type="pres">
      <dgm:prSet presAssocID="{0C9C3D3A-0B09-4725-9BC3-1CBFA37D13AD}" presName="LevelTwoTextNode" presStyleLbl="node2" presStyleIdx="0" presStyleCnt="1" custScaleX="343569" custScaleY="326780" custLinFactNeighborX="-703" custLinFactNeighborY="-4217">
        <dgm:presLayoutVars>
          <dgm:chPref val="3"/>
        </dgm:presLayoutVars>
      </dgm:prSet>
      <dgm:spPr/>
    </dgm:pt>
    <dgm:pt modelId="{3976F87A-C6AA-4D09-82DB-08604858264A}" type="pres">
      <dgm:prSet presAssocID="{0C9C3D3A-0B09-4725-9BC3-1CBFA37D13AD}" presName="level3hierChild" presStyleCnt="0"/>
      <dgm:spPr/>
    </dgm:pt>
    <dgm:pt modelId="{15B519A8-25E3-4EF1-806E-31EC7CCBD21D}" type="pres">
      <dgm:prSet presAssocID="{AED54D43-C736-466C-A18B-8598673200D7}" presName="conn2-1" presStyleLbl="parChTrans1D3" presStyleIdx="0" presStyleCnt="1"/>
      <dgm:spPr/>
    </dgm:pt>
    <dgm:pt modelId="{77F5F30D-D508-4CA0-A7DF-06BD0AEE23EB}" type="pres">
      <dgm:prSet presAssocID="{AED54D43-C736-466C-A18B-8598673200D7}" presName="connTx" presStyleLbl="parChTrans1D3" presStyleIdx="0" presStyleCnt="1"/>
      <dgm:spPr/>
    </dgm:pt>
    <dgm:pt modelId="{5C5E1D58-7DE0-476C-9795-426978C0C331}" type="pres">
      <dgm:prSet presAssocID="{E4568E52-36B6-4A57-A860-74EC76D8A74D}" presName="root2" presStyleCnt="0"/>
      <dgm:spPr/>
    </dgm:pt>
    <dgm:pt modelId="{396D53CC-45C3-4709-842E-074E473A3E2B}" type="pres">
      <dgm:prSet presAssocID="{E4568E52-36B6-4A57-A860-74EC76D8A74D}" presName="LevelTwoTextNode" presStyleLbl="node3" presStyleIdx="0" presStyleCnt="1" custScaleX="343569" custScaleY="317861" custLinFactNeighborX="-13356" custLinFactNeighborY="-4218">
        <dgm:presLayoutVars>
          <dgm:chPref val="3"/>
        </dgm:presLayoutVars>
      </dgm:prSet>
      <dgm:spPr/>
    </dgm:pt>
    <dgm:pt modelId="{33FAB62D-D5F1-4725-AFBB-769D21B13A49}" type="pres">
      <dgm:prSet presAssocID="{E4568E52-36B6-4A57-A860-74EC76D8A74D}" presName="level3hierChild" presStyleCnt="0"/>
      <dgm:spPr/>
    </dgm:pt>
    <dgm:pt modelId="{95F598F1-2270-4B10-BF13-558CD2313ECD}" type="pres">
      <dgm:prSet presAssocID="{CBDE604E-E80B-44F8-A71D-1AEA8492128A}" presName="conn2-1" presStyleLbl="parChTrans1D4" presStyleIdx="0" presStyleCnt="2"/>
      <dgm:spPr/>
    </dgm:pt>
    <dgm:pt modelId="{56C52EEE-0397-4536-86CE-2723BAE89895}" type="pres">
      <dgm:prSet presAssocID="{CBDE604E-E80B-44F8-A71D-1AEA8492128A}" presName="connTx" presStyleLbl="parChTrans1D4" presStyleIdx="0" presStyleCnt="2"/>
      <dgm:spPr/>
    </dgm:pt>
    <dgm:pt modelId="{5B60611E-0B95-4C8E-AA42-D334C5ECE4F3}" type="pres">
      <dgm:prSet presAssocID="{A1AA2A17-24C1-4437-AD67-F1265E21C6DA}" presName="root2" presStyleCnt="0"/>
      <dgm:spPr/>
    </dgm:pt>
    <dgm:pt modelId="{647E1847-6442-40D5-91B4-83B73577A492}" type="pres">
      <dgm:prSet presAssocID="{A1AA2A17-24C1-4437-AD67-F1265E21C6DA}" presName="LevelTwoTextNode" presStyleLbl="node4" presStyleIdx="0" presStyleCnt="2" custScaleX="343569" custScaleY="317861" custLinFactNeighborX="-19751" custLinFactNeighborY="-4292">
        <dgm:presLayoutVars>
          <dgm:chPref val="3"/>
        </dgm:presLayoutVars>
      </dgm:prSet>
      <dgm:spPr/>
    </dgm:pt>
    <dgm:pt modelId="{8BB6F825-91D0-41DA-92C9-D0422CAD9D55}" type="pres">
      <dgm:prSet presAssocID="{A1AA2A17-24C1-4437-AD67-F1265E21C6DA}" presName="level3hierChild" presStyleCnt="0"/>
      <dgm:spPr/>
    </dgm:pt>
    <dgm:pt modelId="{CE756497-5644-4777-8E8B-C9C26D0A50CC}" type="pres">
      <dgm:prSet presAssocID="{D10A3080-6108-4FD5-8333-7BDF1C73E71E}" presName="conn2-1" presStyleLbl="parChTrans1D4" presStyleIdx="1" presStyleCnt="2"/>
      <dgm:spPr/>
    </dgm:pt>
    <dgm:pt modelId="{B7D5D89B-B5B5-402D-B235-0E51E588CED9}" type="pres">
      <dgm:prSet presAssocID="{D10A3080-6108-4FD5-8333-7BDF1C73E71E}" presName="connTx" presStyleLbl="parChTrans1D4" presStyleIdx="1" presStyleCnt="2"/>
      <dgm:spPr/>
    </dgm:pt>
    <dgm:pt modelId="{93FF9A6A-3BE0-4A40-BB29-55A99E3CD690}" type="pres">
      <dgm:prSet presAssocID="{83EF6BAB-60B9-4E00-8AE5-9C82C595B391}" presName="root2" presStyleCnt="0"/>
      <dgm:spPr/>
    </dgm:pt>
    <dgm:pt modelId="{A23256BD-9FE2-40D6-9504-99A43A6D880A}" type="pres">
      <dgm:prSet presAssocID="{83EF6BAB-60B9-4E00-8AE5-9C82C595B391}" presName="LevelTwoTextNode" presStyleLbl="node4" presStyleIdx="1" presStyleCnt="2" custScaleX="324359" custScaleY="310755" custLinFactNeighborX="-37463" custLinFactNeighborY="-4945">
        <dgm:presLayoutVars>
          <dgm:chPref val="3"/>
        </dgm:presLayoutVars>
      </dgm:prSet>
      <dgm:spPr/>
    </dgm:pt>
    <dgm:pt modelId="{182BBCF4-0D08-4B05-8994-9F0A69FF45F0}" type="pres">
      <dgm:prSet presAssocID="{83EF6BAB-60B9-4E00-8AE5-9C82C595B391}" presName="level3hierChild" presStyleCnt="0"/>
      <dgm:spPr/>
    </dgm:pt>
  </dgm:ptLst>
  <dgm:cxnLst>
    <dgm:cxn modelId="{C0E5C209-F765-4B1F-95F4-086B51B27BA7}" type="presOf" srcId="{A1AA2A17-24C1-4437-AD67-F1265E21C6DA}" destId="{647E1847-6442-40D5-91B4-83B73577A492}" srcOrd="0" destOrd="0" presId="urn:microsoft.com/office/officeart/2005/8/layout/hierarchy2"/>
    <dgm:cxn modelId="{97E12910-3BF6-491C-BC65-08AFDB636F27}" type="presOf" srcId="{AED54D43-C736-466C-A18B-8598673200D7}" destId="{77F5F30D-D508-4CA0-A7DF-06BD0AEE23EB}" srcOrd="1" destOrd="0" presId="urn:microsoft.com/office/officeart/2005/8/layout/hierarchy2"/>
    <dgm:cxn modelId="{29EFC220-3430-4507-9734-77B72C282DE1}" type="presOf" srcId="{CBDE604E-E80B-44F8-A71D-1AEA8492128A}" destId="{95F598F1-2270-4B10-BF13-558CD2313ECD}" srcOrd="0" destOrd="0" presId="urn:microsoft.com/office/officeart/2005/8/layout/hierarchy2"/>
    <dgm:cxn modelId="{BFF9E929-0E23-422F-BB08-DBBE9441B3FB}" type="presOf" srcId="{91ECF953-B60E-450F-BFCE-FACF79C73693}" destId="{88977B18-1141-410B-B550-8E10D18F3D10}" srcOrd="0" destOrd="0" presId="urn:microsoft.com/office/officeart/2005/8/layout/hierarchy2"/>
    <dgm:cxn modelId="{8B3FD561-9CEE-4F8D-BCCA-D1B0504CF9C5}" type="presOf" srcId="{CBDE604E-E80B-44F8-A71D-1AEA8492128A}" destId="{56C52EEE-0397-4536-86CE-2723BAE89895}" srcOrd="1" destOrd="0" presId="urn:microsoft.com/office/officeart/2005/8/layout/hierarchy2"/>
    <dgm:cxn modelId="{995F4B66-A989-41F2-9504-8AC4CDE619AC}" type="presOf" srcId="{83EF6BAB-60B9-4E00-8AE5-9C82C595B391}" destId="{A23256BD-9FE2-40D6-9504-99A43A6D880A}" srcOrd="0" destOrd="0" presId="urn:microsoft.com/office/officeart/2005/8/layout/hierarchy2"/>
    <dgm:cxn modelId="{1F39D766-3E33-412F-8492-B3297BA980D9}" srcId="{0C9C3D3A-0B09-4725-9BC3-1CBFA37D13AD}" destId="{E4568E52-36B6-4A57-A860-74EC76D8A74D}" srcOrd="0" destOrd="0" parTransId="{AED54D43-C736-466C-A18B-8598673200D7}" sibTransId="{6C18F63E-DC7A-4E20-82B3-DFC4D30FF1E3}"/>
    <dgm:cxn modelId="{180F1B67-2415-4C0C-B4D9-73F3B97569BD}" type="presOf" srcId="{D10A3080-6108-4FD5-8333-7BDF1C73E71E}" destId="{CE756497-5644-4777-8E8B-C9C26D0A50CC}" srcOrd="0" destOrd="0" presId="urn:microsoft.com/office/officeart/2005/8/layout/hierarchy2"/>
    <dgm:cxn modelId="{98B3466B-6682-4881-B3C5-172C58DBC2A7}" type="presOf" srcId="{0C9C3D3A-0B09-4725-9BC3-1CBFA37D13AD}" destId="{FDCF498D-3C4D-453F-A02C-430C255C3461}" srcOrd="0" destOrd="0" presId="urn:microsoft.com/office/officeart/2005/8/layout/hierarchy2"/>
    <dgm:cxn modelId="{F0AE2C4E-F7C7-45D7-BF8E-08AAF834FA79}" srcId="{A1AA2A17-24C1-4437-AD67-F1265E21C6DA}" destId="{83EF6BAB-60B9-4E00-8AE5-9C82C595B391}" srcOrd="0" destOrd="0" parTransId="{D10A3080-6108-4FD5-8333-7BDF1C73E71E}" sibTransId="{F077ECFE-D8BC-45DA-877B-1C2B63FF8917}"/>
    <dgm:cxn modelId="{B027CA4F-D125-48E2-93CC-AF4EA9454CD0}" type="presOf" srcId="{E4568E52-36B6-4A57-A860-74EC76D8A74D}" destId="{396D53CC-45C3-4709-842E-074E473A3E2B}" srcOrd="0" destOrd="0" presId="urn:microsoft.com/office/officeart/2005/8/layout/hierarchy2"/>
    <dgm:cxn modelId="{29592279-AF36-4AA5-9ADD-FA927A32670C}" srcId="{E18C1397-1482-4D9F-AC04-E063FF6482B4}" destId="{5F2103AF-9D91-4FF2-8CDB-051A44C19068}" srcOrd="0" destOrd="0" parTransId="{46183DD8-3F25-4739-8D13-18742125395F}" sibTransId="{ABECBBD9-7928-4BF5-8860-71D67899F8AE}"/>
    <dgm:cxn modelId="{14426B88-28B9-436F-B48F-FB4AC097913F}" type="presOf" srcId="{AED54D43-C736-466C-A18B-8598673200D7}" destId="{15B519A8-25E3-4EF1-806E-31EC7CCBD21D}" srcOrd="0" destOrd="0" presId="urn:microsoft.com/office/officeart/2005/8/layout/hierarchy2"/>
    <dgm:cxn modelId="{DC51DB8A-FD67-40C2-8A3F-550389AE3D25}" srcId="{5F2103AF-9D91-4FF2-8CDB-051A44C19068}" destId="{0C9C3D3A-0B09-4725-9BC3-1CBFA37D13AD}" srcOrd="0" destOrd="0" parTransId="{91ECF953-B60E-450F-BFCE-FACF79C73693}" sibTransId="{A2BFADB5-FB60-47D1-9297-B2FF33063293}"/>
    <dgm:cxn modelId="{AE423990-5949-4D2E-83CF-286927FAD1AF}" type="presOf" srcId="{E18C1397-1482-4D9F-AC04-E063FF6482B4}" destId="{448FA69E-BED7-4118-993E-CE830A7F6ECB}" srcOrd="0" destOrd="0" presId="urn:microsoft.com/office/officeart/2005/8/layout/hierarchy2"/>
    <dgm:cxn modelId="{41A2B8CE-84C2-4B83-8B27-A7FEA215DA56}" type="presOf" srcId="{91ECF953-B60E-450F-BFCE-FACF79C73693}" destId="{C7FFF0E4-25BF-44CD-91FD-69A1039257F6}" srcOrd="1" destOrd="0" presId="urn:microsoft.com/office/officeart/2005/8/layout/hierarchy2"/>
    <dgm:cxn modelId="{052F98D7-367E-4076-BFF1-3226873E9D9E}" type="presOf" srcId="{D10A3080-6108-4FD5-8333-7BDF1C73E71E}" destId="{B7D5D89B-B5B5-402D-B235-0E51E588CED9}" srcOrd="1" destOrd="0" presId="urn:microsoft.com/office/officeart/2005/8/layout/hierarchy2"/>
    <dgm:cxn modelId="{A3F5EDE5-1F6D-4BE5-998C-5ED128614BB8}" srcId="{E4568E52-36B6-4A57-A860-74EC76D8A74D}" destId="{A1AA2A17-24C1-4437-AD67-F1265E21C6DA}" srcOrd="0" destOrd="0" parTransId="{CBDE604E-E80B-44F8-A71D-1AEA8492128A}" sibTransId="{39B76E97-9394-4000-A210-CE6E77F59569}"/>
    <dgm:cxn modelId="{46D4CCFE-2FC2-484C-8E8A-8748B89E41D1}" type="presOf" srcId="{5F2103AF-9D91-4FF2-8CDB-051A44C19068}" destId="{D9F46483-6C13-4E71-B5B8-4BF75A89CB7C}" srcOrd="0" destOrd="0" presId="urn:microsoft.com/office/officeart/2005/8/layout/hierarchy2"/>
    <dgm:cxn modelId="{FA596B6E-2C8B-44B8-92FA-563864B9FFAB}" type="presParOf" srcId="{448FA69E-BED7-4118-993E-CE830A7F6ECB}" destId="{07894874-4EB4-4527-8879-48D814F4AC10}" srcOrd="0" destOrd="0" presId="urn:microsoft.com/office/officeart/2005/8/layout/hierarchy2"/>
    <dgm:cxn modelId="{3C85B80C-37F6-4D69-8080-80DC12EB9244}" type="presParOf" srcId="{07894874-4EB4-4527-8879-48D814F4AC10}" destId="{D9F46483-6C13-4E71-B5B8-4BF75A89CB7C}" srcOrd="0" destOrd="0" presId="urn:microsoft.com/office/officeart/2005/8/layout/hierarchy2"/>
    <dgm:cxn modelId="{B3D5743B-9A98-4BE5-8C70-F136D4A5F0FF}" type="presParOf" srcId="{07894874-4EB4-4527-8879-48D814F4AC10}" destId="{0C80D68E-B54F-41CC-8557-C01CC6756F70}" srcOrd="1" destOrd="0" presId="urn:microsoft.com/office/officeart/2005/8/layout/hierarchy2"/>
    <dgm:cxn modelId="{5F2E922B-BDAB-4EB0-8798-1662B2846B9A}" type="presParOf" srcId="{0C80D68E-B54F-41CC-8557-C01CC6756F70}" destId="{88977B18-1141-410B-B550-8E10D18F3D10}" srcOrd="0" destOrd="0" presId="urn:microsoft.com/office/officeart/2005/8/layout/hierarchy2"/>
    <dgm:cxn modelId="{3A338676-D54F-46F8-BF26-C28F411CCBF1}" type="presParOf" srcId="{88977B18-1141-410B-B550-8E10D18F3D10}" destId="{C7FFF0E4-25BF-44CD-91FD-69A1039257F6}" srcOrd="0" destOrd="0" presId="urn:microsoft.com/office/officeart/2005/8/layout/hierarchy2"/>
    <dgm:cxn modelId="{E904D2C1-EF11-44CA-9E82-C6C00690C548}" type="presParOf" srcId="{0C80D68E-B54F-41CC-8557-C01CC6756F70}" destId="{648C60A8-1058-4C2A-A924-340B85806658}" srcOrd="1" destOrd="0" presId="urn:microsoft.com/office/officeart/2005/8/layout/hierarchy2"/>
    <dgm:cxn modelId="{7F5309AE-E748-4DAB-84CD-5D3D9FFF1D7C}" type="presParOf" srcId="{648C60A8-1058-4C2A-A924-340B85806658}" destId="{FDCF498D-3C4D-453F-A02C-430C255C3461}" srcOrd="0" destOrd="0" presId="urn:microsoft.com/office/officeart/2005/8/layout/hierarchy2"/>
    <dgm:cxn modelId="{145BF7F0-D05E-4A8D-973D-C64506DDD1C3}" type="presParOf" srcId="{648C60A8-1058-4C2A-A924-340B85806658}" destId="{3976F87A-C6AA-4D09-82DB-08604858264A}" srcOrd="1" destOrd="0" presId="urn:microsoft.com/office/officeart/2005/8/layout/hierarchy2"/>
    <dgm:cxn modelId="{31C6A8F8-F6DB-4B31-9114-4DE0B1688193}" type="presParOf" srcId="{3976F87A-C6AA-4D09-82DB-08604858264A}" destId="{15B519A8-25E3-4EF1-806E-31EC7CCBD21D}" srcOrd="0" destOrd="0" presId="urn:microsoft.com/office/officeart/2005/8/layout/hierarchy2"/>
    <dgm:cxn modelId="{973DDBA0-9DF5-41AB-B1B5-77E369DC0C67}" type="presParOf" srcId="{15B519A8-25E3-4EF1-806E-31EC7CCBD21D}" destId="{77F5F30D-D508-4CA0-A7DF-06BD0AEE23EB}" srcOrd="0" destOrd="0" presId="urn:microsoft.com/office/officeart/2005/8/layout/hierarchy2"/>
    <dgm:cxn modelId="{A8BA2BB2-1D67-43E9-BA76-56C5B48B6AC2}" type="presParOf" srcId="{3976F87A-C6AA-4D09-82DB-08604858264A}" destId="{5C5E1D58-7DE0-476C-9795-426978C0C331}" srcOrd="1" destOrd="0" presId="urn:microsoft.com/office/officeart/2005/8/layout/hierarchy2"/>
    <dgm:cxn modelId="{B1B86CF0-4968-4B5E-ADEE-1D997F4CA84A}" type="presParOf" srcId="{5C5E1D58-7DE0-476C-9795-426978C0C331}" destId="{396D53CC-45C3-4709-842E-074E473A3E2B}" srcOrd="0" destOrd="0" presId="urn:microsoft.com/office/officeart/2005/8/layout/hierarchy2"/>
    <dgm:cxn modelId="{E0B25536-A67F-44EC-9FE6-CC7B406921FF}" type="presParOf" srcId="{5C5E1D58-7DE0-476C-9795-426978C0C331}" destId="{33FAB62D-D5F1-4725-AFBB-769D21B13A49}" srcOrd="1" destOrd="0" presId="urn:microsoft.com/office/officeart/2005/8/layout/hierarchy2"/>
    <dgm:cxn modelId="{F30B7857-CBCE-4EB4-907E-E7574CFA26A7}" type="presParOf" srcId="{33FAB62D-D5F1-4725-AFBB-769D21B13A49}" destId="{95F598F1-2270-4B10-BF13-558CD2313ECD}" srcOrd="0" destOrd="0" presId="urn:microsoft.com/office/officeart/2005/8/layout/hierarchy2"/>
    <dgm:cxn modelId="{E5A90B63-D0E6-45FF-B3D6-650B9CB5E7BA}" type="presParOf" srcId="{95F598F1-2270-4B10-BF13-558CD2313ECD}" destId="{56C52EEE-0397-4536-86CE-2723BAE89895}" srcOrd="0" destOrd="0" presId="urn:microsoft.com/office/officeart/2005/8/layout/hierarchy2"/>
    <dgm:cxn modelId="{6462A3C8-5463-4B46-B693-15CCDDB28394}" type="presParOf" srcId="{33FAB62D-D5F1-4725-AFBB-769D21B13A49}" destId="{5B60611E-0B95-4C8E-AA42-D334C5ECE4F3}" srcOrd="1" destOrd="0" presId="urn:microsoft.com/office/officeart/2005/8/layout/hierarchy2"/>
    <dgm:cxn modelId="{7CB15F76-E3F5-4530-8DC5-C105D756E2B4}" type="presParOf" srcId="{5B60611E-0B95-4C8E-AA42-D334C5ECE4F3}" destId="{647E1847-6442-40D5-91B4-83B73577A492}" srcOrd="0" destOrd="0" presId="urn:microsoft.com/office/officeart/2005/8/layout/hierarchy2"/>
    <dgm:cxn modelId="{5E7F3FC7-782F-48B9-92ED-0461608ED05C}" type="presParOf" srcId="{5B60611E-0B95-4C8E-AA42-D334C5ECE4F3}" destId="{8BB6F825-91D0-41DA-92C9-D0422CAD9D55}" srcOrd="1" destOrd="0" presId="urn:microsoft.com/office/officeart/2005/8/layout/hierarchy2"/>
    <dgm:cxn modelId="{1AE15D1B-3612-4942-8555-154DC7D4F048}" type="presParOf" srcId="{8BB6F825-91D0-41DA-92C9-D0422CAD9D55}" destId="{CE756497-5644-4777-8E8B-C9C26D0A50CC}" srcOrd="0" destOrd="0" presId="urn:microsoft.com/office/officeart/2005/8/layout/hierarchy2"/>
    <dgm:cxn modelId="{3ABDEBE8-092C-4803-9A4A-354BFC49D09A}" type="presParOf" srcId="{CE756497-5644-4777-8E8B-C9C26D0A50CC}" destId="{B7D5D89B-B5B5-402D-B235-0E51E588CED9}" srcOrd="0" destOrd="0" presId="urn:microsoft.com/office/officeart/2005/8/layout/hierarchy2"/>
    <dgm:cxn modelId="{2685FF63-7B0F-4F2B-BE73-3E34432D76E0}" type="presParOf" srcId="{8BB6F825-91D0-41DA-92C9-D0422CAD9D55}" destId="{93FF9A6A-3BE0-4A40-BB29-55A99E3CD690}" srcOrd="1" destOrd="0" presId="urn:microsoft.com/office/officeart/2005/8/layout/hierarchy2"/>
    <dgm:cxn modelId="{BF63C962-1982-4C93-B385-59268D865A00}" type="presParOf" srcId="{93FF9A6A-3BE0-4A40-BB29-55A99E3CD690}" destId="{A23256BD-9FE2-40D6-9504-99A43A6D880A}" srcOrd="0" destOrd="0" presId="urn:microsoft.com/office/officeart/2005/8/layout/hierarchy2"/>
    <dgm:cxn modelId="{325EC5DB-076D-4F17-B0D8-325284996567}" type="presParOf" srcId="{93FF9A6A-3BE0-4A40-BB29-55A99E3CD690}" destId="{182BBCF4-0D08-4B05-8994-9F0A69FF45F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Erick Muñoz</a:t>
          </a:r>
          <a:endParaRPr lang="es-CL" sz="33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Scrum Master - Development Team </a:t>
          </a:r>
          <a:endParaRPr lang="es-CL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kern="1200" dirty="0"/>
            <a:t>Desarrollo técnico – Mejora continua </a:t>
          </a:r>
          <a:endParaRPr lang="es-CL" sz="2600" kern="1200" dirty="0"/>
        </a:p>
      </dsp:txBody>
      <dsp:txXfrm>
        <a:off x="1733817" y="0"/>
        <a:ext cx="5899676" cy="2071186"/>
      </dsp:txXfrm>
    </dsp:sp>
    <dsp:sp modelId="{9A7E2690-DE9C-4572-9BE5-B8C9A3B8BBB3}">
      <dsp:nvSpPr>
        <dsp:cNvPr id="0" name=""/>
        <dsp:cNvSpPr/>
      </dsp:nvSpPr>
      <dsp:spPr>
        <a:xfrm>
          <a:off x="207118" y="207118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2278305"/>
          <a:ext cx="7633494" cy="20711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Iván Reveco</a:t>
          </a:r>
          <a:endParaRPr lang="es-CL" sz="33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Product Owner - Development Team </a:t>
          </a:r>
          <a:endParaRPr lang="es-CL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600" kern="1200" dirty="0"/>
            <a:t>Entrega valor al sistema – Desarrollo técnico</a:t>
          </a:r>
          <a:endParaRPr lang="es-CL" sz="2600" kern="1200" dirty="0"/>
        </a:p>
      </dsp:txBody>
      <dsp:txXfrm>
        <a:off x="1733817" y="2278305"/>
        <a:ext cx="5899676" cy="2071186"/>
      </dsp:txXfrm>
    </dsp:sp>
    <dsp:sp modelId="{3F97C059-D720-4D48-953F-B84D04D0BF79}">
      <dsp:nvSpPr>
        <dsp:cNvPr id="0" name=""/>
        <dsp:cNvSpPr/>
      </dsp:nvSpPr>
      <dsp:spPr>
        <a:xfrm>
          <a:off x="207118" y="2485423"/>
          <a:ext cx="1526698" cy="165694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46483-6C13-4E71-B5B8-4BF75A89CB7C}">
      <dsp:nvSpPr>
        <dsp:cNvPr id="0" name=""/>
        <dsp:cNvSpPr/>
      </dsp:nvSpPr>
      <dsp:spPr>
        <a:xfrm>
          <a:off x="49187" y="1523331"/>
          <a:ext cx="1685417" cy="779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/>
            <a:t>React (Web) + Expo (Móvil)</a:t>
          </a:r>
        </a:p>
      </dsp:txBody>
      <dsp:txXfrm>
        <a:off x="72022" y="1546166"/>
        <a:ext cx="1639747" cy="733982"/>
      </dsp:txXfrm>
    </dsp:sp>
    <dsp:sp modelId="{88977B18-1141-410B-B550-8E10D18F3D10}">
      <dsp:nvSpPr>
        <dsp:cNvPr id="0" name=""/>
        <dsp:cNvSpPr/>
      </dsp:nvSpPr>
      <dsp:spPr>
        <a:xfrm rot="21585345">
          <a:off x="1734604" y="1907093"/>
          <a:ext cx="151903" cy="11480"/>
        </a:xfrm>
        <a:custGeom>
          <a:avLst/>
          <a:gdLst/>
          <a:ahLst/>
          <a:cxnLst/>
          <a:rect l="0" t="0" r="0" b="0"/>
          <a:pathLst>
            <a:path>
              <a:moveTo>
                <a:pt x="0" y="5740"/>
              </a:moveTo>
              <a:lnTo>
                <a:pt x="151903" y="574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1806759" y="1909036"/>
        <a:ext cx="7595" cy="7595"/>
      </dsp:txXfrm>
    </dsp:sp>
    <dsp:sp modelId="{FDCF498D-3C4D-453F-A02C-430C255C3461}">
      <dsp:nvSpPr>
        <dsp:cNvPr id="0" name=""/>
        <dsp:cNvSpPr/>
      </dsp:nvSpPr>
      <dsp:spPr>
        <a:xfrm>
          <a:off x="1886507" y="1511745"/>
          <a:ext cx="1685417" cy="8015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/>
            <a:t>Backend: API.NET 8 (Render)</a:t>
          </a:r>
        </a:p>
      </dsp:txBody>
      <dsp:txXfrm>
        <a:off x="1909983" y="1535221"/>
        <a:ext cx="1638465" cy="754576"/>
      </dsp:txXfrm>
    </dsp:sp>
    <dsp:sp modelId="{15B519A8-25E3-4EF1-806E-31EC7CCBD21D}">
      <dsp:nvSpPr>
        <dsp:cNvPr id="0" name=""/>
        <dsp:cNvSpPr/>
      </dsp:nvSpPr>
      <dsp:spPr>
        <a:xfrm rot="21599937">
          <a:off x="3571925" y="1906768"/>
          <a:ext cx="134153" cy="11480"/>
        </a:xfrm>
        <a:custGeom>
          <a:avLst/>
          <a:gdLst/>
          <a:ahLst/>
          <a:cxnLst/>
          <a:rect l="0" t="0" r="0" b="0"/>
          <a:pathLst>
            <a:path>
              <a:moveTo>
                <a:pt x="0" y="5740"/>
              </a:moveTo>
              <a:lnTo>
                <a:pt x="134153" y="57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3635648" y="1909154"/>
        <a:ext cx="6707" cy="6707"/>
      </dsp:txXfrm>
    </dsp:sp>
    <dsp:sp modelId="{396D53CC-45C3-4709-842E-074E473A3E2B}">
      <dsp:nvSpPr>
        <dsp:cNvPr id="0" name=""/>
        <dsp:cNvSpPr/>
      </dsp:nvSpPr>
      <dsp:spPr>
        <a:xfrm>
          <a:off x="3706079" y="1522681"/>
          <a:ext cx="1685417" cy="779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/>
            <a:t>BDD : PostgreSQL (</a:t>
          </a:r>
          <a:r>
            <a:rPr lang="es-CL" sz="1800" kern="1200" dirty="0" err="1"/>
            <a:t>Neon</a:t>
          </a:r>
          <a:r>
            <a:rPr lang="es-CL" sz="1800" kern="1200" dirty="0"/>
            <a:t>)</a:t>
          </a:r>
        </a:p>
      </dsp:txBody>
      <dsp:txXfrm>
        <a:off x="3728914" y="1545516"/>
        <a:ext cx="1639747" cy="733982"/>
      </dsp:txXfrm>
    </dsp:sp>
    <dsp:sp modelId="{95F598F1-2270-4B10-BF13-558CD2313ECD}">
      <dsp:nvSpPr>
        <dsp:cNvPr id="0" name=""/>
        <dsp:cNvSpPr/>
      </dsp:nvSpPr>
      <dsp:spPr>
        <a:xfrm rot="21596215">
          <a:off x="5391497" y="1906676"/>
          <a:ext cx="164853" cy="11480"/>
        </a:xfrm>
        <a:custGeom>
          <a:avLst/>
          <a:gdLst/>
          <a:ahLst/>
          <a:cxnLst/>
          <a:rect l="0" t="0" r="0" b="0"/>
          <a:pathLst>
            <a:path>
              <a:moveTo>
                <a:pt x="0" y="5740"/>
              </a:moveTo>
              <a:lnTo>
                <a:pt x="164853" y="57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5469802" y="1908295"/>
        <a:ext cx="8242" cy="8242"/>
      </dsp:txXfrm>
    </dsp:sp>
    <dsp:sp modelId="{647E1847-6442-40D5-91B4-83B73577A492}">
      <dsp:nvSpPr>
        <dsp:cNvPr id="0" name=""/>
        <dsp:cNvSpPr/>
      </dsp:nvSpPr>
      <dsp:spPr>
        <a:xfrm>
          <a:off x="5556350" y="1522499"/>
          <a:ext cx="1685417" cy="779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/>
            <a:t>Local Storage : SQLite Expo</a:t>
          </a:r>
        </a:p>
      </dsp:txBody>
      <dsp:txXfrm>
        <a:off x="5579185" y="1545334"/>
        <a:ext cx="1639747" cy="733982"/>
      </dsp:txXfrm>
    </dsp:sp>
    <dsp:sp modelId="{CE756497-5644-4777-8E8B-C9C26D0A50CC}">
      <dsp:nvSpPr>
        <dsp:cNvPr id="0" name=""/>
        <dsp:cNvSpPr/>
      </dsp:nvSpPr>
      <dsp:spPr>
        <a:xfrm rot="21549644">
          <a:off x="7241762" y="1905784"/>
          <a:ext cx="109348" cy="11480"/>
        </a:xfrm>
        <a:custGeom>
          <a:avLst/>
          <a:gdLst/>
          <a:ahLst/>
          <a:cxnLst/>
          <a:rect l="0" t="0" r="0" b="0"/>
          <a:pathLst>
            <a:path>
              <a:moveTo>
                <a:pt x="0" y="5740"/>
              </a:moveTo>
              <a:lnTo>
                <a:pt x="109348" y="574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7293703" y="1908791"/>
        <a:ext cx="5467" cy="5467"/>
      </dsp:txXfrm>
    </dsp:sp>
    <dsp:sp modelId="{A23256BD-9FE2-40D6-9504-99A43A6D880A}">
      <dsp:nvSpPr>
        <dsp:cNvPr id="0" name=""/>
        <dsp:cNvSpPr/>
      </dsp:nvSpPr>
      <dsp:spPr>
        <a:xfrm>
          <a:off x="7351104" y="1529613"/>
          <a:ext cx="1591180" cy="7622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dirty="0"/>
            <a:t>Sincronización : </a:t>
          </a:r>
          <a:r>
            <a:rPr lang="es-CL" sz="1800" kern="1200" dirty="0" err="1"/>
            <a:t>Pull</a:t>
          </a:r>
          <a:r>
            <a:rPr lang="es-CL" sz="1800" kern="1200" dirty="0"/>
            <a:t>/</a:t>
          </a:r>
          <a:r>
            <a:rPr lang="es-CL" sz="1800" kern="1200" dirty="0" err="1"/>
            <a:t>Push</a:t>
          </a:r>
          <a:r>
            <a:rPr lang="es-CL" sz="1800" kern="1200" dirty="0"/>
            <a:t> local con servidor   </a:t>
          </a:r>
        </a:p>
      </dsp:txBody>
      <dsp:txXfrm>
        <a:off x="7373429" y="1551938"/>
        <a:ext cx="1546530" cy="717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“FinanzApp”</a:t>
            </a:r>
          </a:p>
          <a:p>
            <a:pPr algn="ctr"/>
            <a:r>
              <a:rPr lang="es-MX" sz="2400" dirty="0"/>
              <a:t>PRESENTACIÓN FINAL CAPSTONE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6405932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006601"/>
            <a:ext cx="4348705" cy="4482470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1800" dirty="0"/>
              <a:t>Poco control en el presupuesto mensual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Los métodos tradicionales son poco prácticos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sz="1800" dirty="0"/>
              <a:t>No existen soluciones simples pensadas para todo público. </a:t>
            </a:r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006600"/>
            <a:ext cx="4348705" cy="448247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Crear aplicación web y móvil intuitiva que permita :</a:t>
            </a:r>
          </a:p>
          <a:p>
            <a:pPr algn="just"/>
            <a:endParaRPr lang="es-C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Registrar ingresos, gastos y cuotas</a:t>
            </a:r>
          </a:p>
          <a:p>
            <a:pPr algn="just"/>
            <a:endParaRPr lang="es-C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Calcular automáticamente el presupuesto mensual</a:t>
            </a:r>
          </a:p>
          <a:p>
            <a:pPr algn="just"/>
            <a:endParaRPr lang="es-C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Administrar metas de ahorro mediante wishlist </a:t>
            </a:r>
          </a:p>
          <a:p>
            <a:pPr algn="just"/>
            <a:endParaRPr lang="es-C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/>
              <a:t>Ayudar a la toma de decisiones financieras 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Desarrollar una aplicación web y móvil, que permita gestionar las finanzas personales de forma simple, clara y accesible para cualquier usuario. 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930210C-153C-4E0D-8056-5F8605FB9A95}"/>
              </a:ext>
            </a:extLst>
          </p:cNvPr>
          <p:cNvSpPr txBox="1"/>
          <p:nvPr/>
        </p:nvSpPr>
        <p:spPr>
          <a:xfrm>
            <a:off x="943698" y="5593515"/>
            <a:ext cx="672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Implementar un registro de ingresos, gastos y cuotas </a:t>
            </a:r>
          </a:p>
          <a:p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E6DA5D5-D71C-4975-9E6E-E6BC8EEC5704}"/>
              </a:ext>
            </a:extLst>
          </p:cNvPr>
          <p:cNvSpPr txBox="1"/>
          <p:nvPr/>
        </p:nvSpPr>
        <p:spPr>
          <a:xfrm>
            <a:off x="614514" y="5150530"/>
            <a:ext cx="5481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 dirty="0"/>
              <a:t>Diseñar una interfaz intuitiva y multiplataforma   </a:t>
            </a:r>
          </a:p>
          <a:p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D8C5CAE-F871-421E-A575-2FD498FAEC09}"/>
              </a:ext>
            </a:extLst>
          </p:cNvPr>
          <p:cNvSpPr txBox="1"/>
          <p:nvPr/>
        </p:nvSpPr>
        <p:spPr>
          <a:xfrm>
            <a:off x="6997607" y="5520017"/>
            <a:ext cx="4823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Permitir exportar balances en PDF y Excel</a:t>
            </a:r>
          </a:p>
          <a:p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CA5BEC-1B2A-4C1B-8FAF-2F8CDEDBA708}"/>
              </a:ext>
            </a:extLst>
          </p:cNvPr>
          <p:cNvSpPr txBox="1"/>
          <p:nvPr/>
        </p:nvSpPr>
        <p:spPr>
          <a:xfrm>
            <a:off x="6031410" y="5148870"/>
            <a:ext cx="5481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CL" dirty="0"/>
              <a:t>Incorporar un modulo de wishlist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9DDFD3D-9C00-48F0-8BD0-3E3C7E3550ED}"/>
              </a:ext>
            </a:extLst>
          </p:cNvPr>
          <p:cNvSpPr txBox="1"/>
          <p:nvPr/>
        </p:nvSpPr>
        <p:spPr>
          <a:xfrm>
            <a:off x="819150" y="2552700"/>
            <a:ext cx="561975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Alcances</a:t>
            </a:r>
            <a:endParaRPr lang="es-ES" b="1" dirty="0"/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Registro completo de movimientos financieros.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Visualización clara del dinero disponible.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Wishlist para metas y deseos.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Exportación de balances.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App funcional web + móvil.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Sincronización local con SQLite.</a:t>
            </a:r>
          </a:p>
          <a:p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5B77156-AD61-4B18-BAF0-EF17759DB7BF}"/>
              </a:ext>
            </a:extLst>
          </p:cNvPr>
          <p:cNvSpPr txBox="1"/>
          <p:nvPr/>
        </p:nvSpPr>
        <p:spPr>
          <a:xfrm>
            <a:off x="6708437" y="2552700"/>
            <a:ext cx="520512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Limitaciones</a:t>
            </a:r>
            <a:endParaRPr lang="es-ES" b="1" dirty="0"/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No incluye integración bancaría automática.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Visualización clara del dinero disponible(Correo electrónico).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No incluye análisis avanzado de gastos (gráficos o IA).</a:t>
            </a:r>
            <a:endParaRPr lang="es-ES" dirty="0"/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Escalabilidad limitada por uso de </a:t>
            </a:r>
            <a:r>
              <a:rPr lang="es-CL" dirty="0" err="1"/>
              <a:t>tiers</a:t>
            </a:r>
            <a:r>
              <a:rPr lang="es-CL" dirty="0"/>
              <a:t> gratuitos</a:t>
            </a:r>
            <a:r>
              <a:rPr lang="es-ES" dirty="0"/>
              <a:t>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CDE0B1-6E39-4B1C-83AA-13D93E975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sistema de notificaciones no está implementado.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3AE32E3D-C9DD-487F-BD01-9A2E511D3B15}"/>
              </a:ext>
            </a:extLst>
          </p:cNvPr>
          <p:cNvSpPr txBox="1"/>
          <p:nvPr/>
        </p:nvSpPr>
        <p:spPr>
          <a:xfrm>
            <a:off x="819150" y="2552700"/>
            <a:ext cx="561975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Metodología: Scrum (Ágil)</a:t>
            </a:r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Product Owner : Ivan Reveco.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Scrum Master : Erick Muñoz.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Development </a:t>
            </a:r>
            <a:r>
              <a:rPr lang="es-ES" dirty="0" err="1"/>
              <a:t>Team</a:t>
            </a:r>
            <a:r>
              <a:rPr lang="es-ES" dirty="0"/>
              <a:t> : Ambos integrantes .</a:t>
            </a:r>
          </a:p>
          <a:p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9D28A9-85D8-4CE1-8148-9CAB3780F8BB}"/>
              </a:ext>
            </a:extLst>
          </p:cNvPr>
          <p:cNvSpPr txBox="1"/>
          <p:nvPr/>
        </p:nvSpPr>
        <p:spPr>
          <a:xfrm>
            <a:off x="6708437" y="2552700"/>
            <a:ext cx="520512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Ceremonias y artefactos</a:t>
            </a:r>
            <a:endParaRPr lang="es-ES" b="1" dirty="0"/>
          </a:p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 err="1"/>
              <a:t>Sprints</a:t>
            </a:r>
            <a:r>
              <a:rPr lang="es-CL" dirty="0"/>
              <a:t> cortos</a:t>
            </a:r>
            <a:r>
              <a:rPr lang="es-ES" dirty="0"/>
              <a:t>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Historias de usuario</a:t>
            </a:r>
            <a:r>
              <a:rPr lang="es-ES" dirty="0"/>
              <a:t>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Épicas.</a:t>
            </a:r>
            <a:endParaRPr lang="es-ES" dirty="0"/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Product Backlog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User Story Mapping.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Release </a:t>
            </a:r>
            <a:r>
              <a:rPr lang="es-CL" dirty="0" err="1"/>
              <a:t>Planning</a:t>
            </a:r>
            <a:r>
              <a:rPr lang="es-CL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BB5CADE-DDA2-A4F7-629E-7AEEB49F5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838003"/>
              </p:ext>
            </p:extLst>
          </p:nvPr>
        </p:nvGraphicFramePr>
        <p:xfrm>
          <a:off x="1248696" y="2595717"/>
          <a:ext cx="10257796" cy="3875968"/>
        </p:xfrm>
        <a:graphic>
          <a:graphicData uri="http://schemas.openxmlformats.org/drawingml/2006/table">
            <a:tbl>
              <a:tblPr firstRow="1" firstCol="1" bandRow="1"/>
              <a:tblGrid>
                <a:gridCol w="1245540">
                  <a:extLst>
                    <a:ext uri="{9D8B030D-6E8A-4147-A177-3AD203B41FA5}">
                      <a16:colId xmlns:a16="http://schemas.microsoft.com/office/drawing/2014/main" val="1385875515"/>
                    </a:ext>
                  </a:extLst>
                </a:gridCol>
                <a:gridCol w="494161">
                  <a:extLst>
                    <a:ext uri="{9D8B030D-6E8A-4147-A177-3AD203B41FA5}">
                      <a16:colId xmlns:a16="http://schemas.microsoft.com/office/drawing/2014/main" val="3026825544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982458150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2813336322"/>
                    </a:ext>
                  </a:extLst>
                </a:gridCol>
                <a:gridCol w="484940">
                  <a:extLst>
                    <a:ext uri="{9D8B030D-6E8A-4147-A177-3AD203B41FA5}">
                      <a16:colId xmlns:a16="http://schemas.microsoft.com/office/drawing/2014/main" val="66681020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41682826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853034618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66676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2597728732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3367593723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1610561930"/>
                    </a:ext>
                  </a:extLst>
                </a:gridCol>
                <a:gridCol w="482175">
                  <a:extLst>
                    <a:ext uri="{9D8B030D-6E8A-4147-A177-3AD203B41FA5}">
                      <a16:colId xmlns:a16="http://schemas.microsoft.com/office/drawing/2014/main" val="407868546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033199576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24485229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661357519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1629908258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2147780406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236880654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867265020"/>
                    </a:ext>
                  </a:extLst>
                </a:gridCol>
                <a:gridCol w="484017">
                  <a:extLst>
                    <a:ext uri="{9D8B030D-6E8A-4147-A177-3AD203B41FA5}">
                      <a16:colId xmlns:a16="http://schemas.microsoft.com/office/drawing/2014/main" val="3959863927"/>
                    </a:ext>
                  </a:extLst>
                </a:gridCol>
                <a:gridCol w="140136">
                  <a:extLst>
                    <a:ext uri="{9D8B030D-6E8A-4147-A177-3AD203B41FA5}">
                      <a16:colId xmlns:a16="http://schemas.microsoft.com/office/drawing/2014/main" val="366369285"/>
                    </a:ext>
                  </a:extLst>
                </a:gridCol>
              </a:tblGrid>
              <a:tr h="524466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Actividad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1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2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Fase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283734"/>
                  </a:ext>
                </a:extLst>
              </a:tr>
              <a:tr h="540519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6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9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10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11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12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13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14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15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16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17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 18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16602"/>
                  </a:ext>
                </a:extLst>
              </a:tr>
              <a:tr h="9589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000" i="1" dirty="0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Fase 1 : Elección de proyecto, creación de documentación y mockup </a:t>
                      </a:r>
                      <a:endParaRPr lang="es-CL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kumimoji="0" lang="es-CL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18220"/>
                  </a:ext>
                </a:extLst>
              </a:tr>
              <a:tr h="5405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s-CL" sz="1000" i="1" kern="1200" dirty="0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Fase 2 : Mvp, control de presupuesto avanzado, wishlist y exportación de balance.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kumimoji="0" lang="es-CL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kumimoji="0" lang="es-CL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endParaRPr kumimoji="0" lang="es-CL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361947"/>
                  </a:ext>
                </a:extLst>
              </a:tr>
              <a:tr h="73268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1000" i="1" kern="1200" dirty="0">
                          <a:solidFill>
                            <a:srgbClr val="548DD4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Fase 3 : Experiencia multiplataforma, ajustes finales.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L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s-CL" sz="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x</a:t>
                      </a:r>
                      <a:endParaRPr lang="es-C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L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495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BCA2650-EB4C-4F00-99C4-EB8491F55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230595"/>
              </p:ext>
            </p:extLst>
          </p:nvPr>
        </p:nvGraphicFramePr>
        <p:xfrm>
          <a:off x="1664997" y="2486829"/>
          <a:ext cx="9134379" cy="3845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 descr="Interfaz de usuario gráfica, Diagrama, Esquemático&#10;&#10;El contenido generado por IA puede ser incorrecto.">
            <a:extLst>
              <a:ext uri="{FF2B5EF4-FFF2-40B4-BE49-F238E27FC236}">
                <a16:creationId xmlns:a16="http://schemas.microsoft.com/office/drawing/2014/main" id="{98909B81-913D-48AA-A892-0F88E8E0BA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5" r="22530"/>
          <a:stretch/>
        </p:blipFill>
        <p:spPr>
          <a:xfrm>
            <a:off x="1954694" y="2078986"/>
            <a:ext cx="8282609" cy="4667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“FinanzApp”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186157A8-0F05-4CB2-BD8A-EE32A15D8A3D}"/>
              </a:ext>
            </a:extLst>
          </p:cNvPr>
          <p:cNvSpPr txBox="1"/>
          <p:nvPr/>
        </p:nvSpPr>
        <p:spPr>
          <a:xfrm>
            <a:off x="4137839" y="2518739"/>
            <a:ext cx="41806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s-CL" altLang="es-CL" dirty="0"/>
              <a:t>Frontend: React, React Native, Expo</a:t>
            </a:r>
            <a:r>
              <a:rPr lang="es-ES" dirty="0"/>
              <a:t>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CL" altLang="es-CL" dirty="0"/>
              <a:t>Backend: C# .NET 8</a:t>
            </a:r>
            <a:r>
              <a:rPr lang="es-ES" dirty="0"/>
              <a:t>.</a:t>
            </a:r>
          </a:p>
          <a:p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Base de Datos: PostgreSQL + SQLite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Servicios: Render, </a:t>
            </a:r>
            <a:r>
              <a:rPr lang="es-CL" altLang="es-CL" dirty="0" err="1"/>
              <a:t>NeonDB</a:t>
            </a:r>
            <a:endParaRPr lang="es-CL" altLang="es-CL" dirty="0"/>
          </a:p>
          <a:p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Librerías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L" altLang="es-CL" dirty="0"/>
              <a:t>Axios, </a:t>
            </a:r>
            <a:r>
              <a:rPr lang="es-CL" altLang="es-CL" dirty="0" err="1"/>
              <a:t>Formik</a:t>
            </a:r>
            <a:r>
              <a:rPr lang="es-CL" altLang="es-CL" dirty="0"/>
              <a:t>, </a:t>
            </a:r>
            <a:r>
              <a:rPr lang="es-CL" altLang="es-CL" dirty="0" err="1"/>
              <a:t>Yup</a:t>
            </a:r>
            <a:r>
              <a:rPr lang="es-CL" altLang="es-CL" dirty="0"/>
              <a:t>, Expo-SQLite</a:t>
            </a:r>
          </a:p>
          <a:p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Herramientas: GitHub, VS </a:t>
            </a:r>
            <a:r>
              <a:rPr lang="es-CL" altLang="es-CL" dirty="0" err="1"/>
              <a:t>Code</a:t>
            </a:r>
            <a:endParaRPr lang="es-CL" altLang="es-CL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088F52-8557-459A-AA7B-62AFD766D96D}"/>
              </a:ext>
            </a:extLst>
          </p:cNvPr>
          <p:cNvSpPr txBox="1"/>
          <p:nvPr/>
        </p:nvSpPr>
        <p:spPr>
          <a:xfrm>
            <a:off x="3329648" y="2694729"/>
            <a:ext cx="55327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s-CL" altLang="es-CL" dirty="0"/>
              <a:t>Aplicación completamente funcional en web y móvil.</a:t>
            </a:r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altLang="es-CL" dirty="0"/>
              <a:t>Interfaz clara e intuitiva. </a:t>
            </a:r>
            <a:endParaRPr lang="es-ES" dirty="0"/>
          </a:p>
          <a:p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Calculo automático del presupuesto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L" altLang="es-CL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Exportar balances a PDF y Excel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Wishlist operativa con seguimiento de metas </a:t>
            </a:r>
          </a:p>
          <a:p>
            <a:endParaRPr lang="es-E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Arquitectura escalable y mantenible</a:t>
            </a: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3B7A2A-895F-4692-859E-18D2D0AD34CC}"/>
              </a:ext>
            </a:extLst>
          </p:cNvPr>
          <p:cNvSpPr txBox="1"/>
          <p:nvPr/>
        </p:nvSpPr>
        <p:spPr>
          <a:xfrm>
            <a:off x="3576390" y="2498085"/>
            <a:ext cx="5039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b="1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s-CL" altLang="es-CL" dirty="0"/>
              <a:t>Complejidad de sincronizar SQLite con PostgreSQL.</a:t>
            </a:r>
            <a:endParaRPr lang="es-ES" dirty="0"/>
          </a:p>
          <a:p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altLang="es-CL" dirty="0"/>
              <a:t>Diferencias entre comportamiento de web y móvil. </a:t>
            </a:r>
            <a:endParaRPr lang="es-ES" dirty="0"/>
          </a:p>
          <a:p>
            <a:endParaRPr lang="es-ES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Tiempos reducidos y disponibilidad de equipo.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L" altLang="es-CL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L" altLang="es-CL" dirty="0"/>
              <a:t>Curva de aprendizaje en React Native.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646</Words>
  <Application>Microsoft Office PowerPoint</Application>
  <PresentationFormat>Panorámica</PresentationFormat>
  <Paragraphs>222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ERICK</cp:lastModifiedBy>
  <cp:revision>22</cp:revision>
  <dcterms:created xsi:type="dcterms:W3CDTF">2023-10-28T21:12:11Z</dcterms:created>
  <dcterms:modified xsi:type="dcterms:W3CDTF">2025-12-05T02:42:46Z</dcterms:modified>
</cp:coreProperties>
</file>